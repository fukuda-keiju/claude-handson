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【0〜5 分｜導入と接続確認】
「今日は 60 分で、AI に書かせたテストが本当に品質を守ってくれるのかを確かめます。会場の皆さんはテスター役です。アプリの画面を見て、AI にテストを書かせます。Zoom の皆さんは設計者役です。皆さんだけが仕様書を持っています。テスターの作るテストに見落としがないか、設計者の目で見ていてください。前半、テストは全部緑、成功になります。それが本当に安心なのか、30 分で設計者の皆さんに聞きます。」
（このあと）ホワイトボードに共通パスワードを書く。Zoom 担当に「共有、見えていますか」と聞く。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【10〜22 分｜Claude Code がファイルを作り始めたとき】
「ファイルができ始めました。ATF のテストは『ステップ』の並びです。レコードを 1 件作る、値が open か確かめる、画面で New を押す、タイトルを入力する。それぞれが 1 ステップです。今できている `.now.ts` というファイル 1 つが、ServiceNow 画面のテスト 1 つになります。」
（UI テストのファイルができたとき）
「これは画面を操作するテストです。『New というボタンを探して押す』『Title という入力欄に文字を入れる』と書いてあります。人間が手でやることを、そのまま文にした形です。」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【10〜22 分｜npm run build が走っているとき】
「テストには 2 種類あります。正しく使ったら正しく動く、を確かめるのが Positive。タイトルを入れて保存したら保存される。間違った使い方が拒否される、を確かめるのが Negative。タイトル空欄で保存したらエラーになる。AI は Positive を得意とします。今の動きを見て、その通りに動くことを確かめるテストは上手です。Negative は、何が間違いなのかを知らないと書けません。この違いを後半で見ます。」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【35〜43 分｜赤が出たら】
「赤が出ました。ここで 4 分類です。テストが赤になる原因は 4 つのどれかです。1 つ目、アプリの欠陥。これが本来見つけたいもの。2 つ目、テストの間違い。ボタンの名前が違う、期待値が逆。3 つ目、環境。テスト用のタブを閉じた、ログインが切れた。4 つ目、データ。他の人のレコードと混ざった。」
（投票 2 — Zoom 担当に合図）
「投票です。この赤の原因は 4 つのどれだと思いますか。会場はチャットに番号を、Zoom は投票に。」30 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【50〜57 分｜締めのセリフ（そのまま読む）】
「まとめます。AI はテストを速く書けます。今日 3 本を 8 分で書きました。でも、何が正しいかを決めるのは仕様です。AI はそれを知りません。今日、設計者役の皆さんは最初から答えが見えていて、テスター役の皆さんには 30 分見えませんでした。その差を作ったのは紙 1 枚です。持ち帰ってほしいのは 3 つ。1 つ、仕様を先に渡す。2 つ、Negative を必ず頼む。3 つ、赤が出たら 4 分類で考える。この 3 つで、AI に書かせたテストが品質を守るものになります。」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テーマB ハンズオン｜60 分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が書いたテストは、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品質を守ってくれるか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84832"/>
            <a:ext cx="10058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28600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前半　</a:t>
            </a:r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テストは全部「緑」になります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 分　</a:t>
            </a:r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設計者の出番。仕様書を渡します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後半　</a:t>
            </a:r>
            <a:pPr indent="0" marL="0">
              <a:lnSpc>
                <a:spcPct val="13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赤を出して、直して、再テスト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3529584"/>
            <a:ext cx="2377440" cy="1207008"/>
          </a:xfrm>
          <a:prstGeom prst="roundRect">
            <a:avLst>
              <a:gd name="adj" fmla="val 6061"/>
            </a:avLst>
          </a:prstGeom>
          <a:solidFill>
            <a:srgbClr val="0A44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0273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95020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テスター役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（仕様書なし）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3529584"/>
            <a:ext cx="2377440" cy="1207008"/>
          </a:xfrm>
          <a:prstGeom prst="roundRect">
            <a:avLst>
              <a:gd name="adj" fmla="val 6061"/>
            </a:avLst>
          </a:prstGeom>
          <a:solidFill>
            <a:srgbClr val="0A44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360273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Zoom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395020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設計者・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レビュアー役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3529584"/>
            <a:ext cx="2377440" cy="1207008"/>
          </a:xfrm>
          <a:prstGeom prst="roundRect">
            <a:avLst>
              <a:gd name="adj" fmla="val 6061"/>
            </a:avLst>
          </a:prstGeom>
          <a:solidFill>
            <a:srgbClr val="0A446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360273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Zoom 担当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395020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チャットと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投票の進行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D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ATF のテストとは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 つのテスト ＝ </a:t>
            </a:r>
            <a:pPr indent="0" marL="0">
              <a:buNone/>
            </a:pPr>
            <a:r>
              <a:rPr lang="en-US" sz="2600" b="1" dirty="0">
                <a:solidFill>
                  <a:srgbClr val="B577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ステップの並び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46888" y="1719072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EDF2F5"/>
          </a:solidFill>
          <a:ln w="19050">
            <a:solidFill>
              <a:srgbClr val="032D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6888" y="17190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レコードを作る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58568" y="1719072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9736" y="1719072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EDF2F5"/>
          </a:solidFill>
          <a:ln w="19050">
            <a:solidFill>
              <a:srgbClr val="03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9736" y="17190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値を確かめる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71416" y="1719072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72584" y="1719072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DF1D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2584" y="17190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New を押す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84264" y="1719072"/>
            <a:ext cx="2011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85432" y="1719072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FDF1DC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85432" y="1719072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Title に入力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46888" y="2542032"/>
            <a:ext cx="4224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サーバー系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72584" y="2542032"/>
            <a:ext cx="42245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577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UI 系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8046720" cy="1417320"/>
          </a:xfrm>
          <a:prstGeom prst="roundRect">
            <a:avLst>
              <a:gd name="adj" fmla="val 5161"/>
            </a:avLst>
          </a:prstGeom>
          <a:solidFill>
            <a:srgbClr val="EDF2F5"/>
          </a:solidFill>
          <a:ln w="12700">
            <a:solidFill>
              <a:srgbClr val="032D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154680"/>
            <a:ext cx="7498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B577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.now.ts</a:t>
            </a:r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1 ファイル ＝ 画面のテスト 1 つ</a:t>
            </a:r>
            <a:endParaRPr lang="en-US" sz="2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22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deploy すると ServiceNow の画面にテストが現れる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D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Positive と Negative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DF2F5"/>
          </a:solidFill>
          <a:ln w="19050">
            <a:solidFill>
              <a:srgbClr val="032D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3931920" cy="621792"/>
          </a:xfrm>
          <a:prstGeom prst="rect">
            <a:avLst/>
          </a:prstGeom>
          <a:solidFill>
            <a:srgbClr val="032D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Positive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正しく使えば、正しく動く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4A65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タイトルを入れて保存</a:t>
            </a:r>
            <a:endParaRPr lang="en-US" sz="2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4A65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保存される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EDF2F5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88720"/>
            <a:ext cx="3931920" cy="6217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188720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Negative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00600" y="190195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間違った使い方は、拒否される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800600" y="24688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4A65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タイトル空欄で保存</a:t>
            </a:r>
            <a:endParaRPr lang="en-US" sz="2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4A65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エラー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032D4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は </a:t>
            </a:r>
            <a:pPr algn="ctr" indent="0" marL="0">
              <a:buNone/>
            </a:pPr>
            <a:r>
              <a:rPr lang="en-US" sz="21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Positive が得意</a:t>
            </a:r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。Negative は「何が間違いか」を知らないと書けない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32D4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赤が出たときの 4 分類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FDF1DC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527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77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2527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アプリの欠陥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172821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5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本来これが見つけたいもの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143000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EDF2F5"/>
          </a:solidFill>
          <a:ln w="12700">
            <a:solidFill>
              <a:srgbClr val="03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25272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77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623560" y="125272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テストの間違い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120640" y="1728216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5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ボタン名違い、期待値が逆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2496312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EDF2F5"/>
          </a:solidFill>
          <a:ln w="12700">
            <a:solidFill>
              <a:srgbClr val="032D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77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444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環境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31520" y="308152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5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Runner タブを閉じた、ログイン切れ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937760" y="2496312"/>
            <a:ext cx="3931920" cy="1207008"/>
          </a:xfrm>
          <a:prstGeom prst="roundRect">
            <a:avLst>
              <a:gd name="adj" fmla="val 6061"/>
            </a:avLst>
          </a:prstGeom>
          <a:solidFill>
            <a:srgbClr val="EDF2F5"/>
          </a:solidFill>
          <a:ln w="12700">
            <a:solidFill>
              <a:srgbClr val="032D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2606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771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623560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120640" y="3081528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57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他人のレコードと混ざった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48640" y="3950208"/>
            <a:ext cx="8046720" cy="749808"/>
          </a:xfrm>
          <a:prstGeom prst="roundRect">
            <a:avLst>
              <a:gd name="adj" fmla="val 9756"/>
            </a:avLst>
          </a:prstGeom>
          <a:solidFill>
            <a:srgbClr val="032D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950208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赤を見たら、まずこの 4 つのどれか考える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持ち帰る 3 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00584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" y="1810512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10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仕様を先に渡す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2569464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5694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2569464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Negative を必ず頼む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94360" y="3328416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328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32D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25880" y="3328416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赤が出たら 4 分類で考える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A62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何が正しいかを決めるのは仕様。AI はそれを知らない。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AORA NOW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テーマB ハンズオン</dc:title>
  <dc:subject>PptxGenJS Presentation</dc:subject>
  <dc:creator>Keiju Fukuda</dc:creator>
  <cp:lastModifiedBy>Keiju Fukuda</cp:lastModifiedBy>
  <cp:revision>1</cp:revision>
  <dcterms:created xsi:type="dcterms:W3CDTF">2026-09-16T04:22:51Z</dcterms:created>
  <dcterms:modified xsi:type="dcterms:W3CDTF">2026-09-16T04:22:51Z</dcterms:modified>
</cp:coreProperties>
</file>